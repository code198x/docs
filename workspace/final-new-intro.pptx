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7" r:id="rId3"/>
    <p:sldId id="317" r:id="rId36"/>
    <p:sldId id="318" r:id="rId39"/>
    <p:sldId id="319" r:id="rId40"/>
    <p:sldId id="320" r:id="rId41"/>
    <p:sldId id="321" r:id="rId42"/>
    <p:sldId id="322" r:id="rId43"/>
    <p:sldId id="256" r:id="rId20"/>
    <p:sldId id="307" r:id="rId12"/>
    <p:sldId id="308" r:id="rId13"/>
    <p:sldId id="309" r:id="rId14"/>
    <p:sldId id="310" r:id="rId15"/>
    <p:sldId id="311" r:id="rId16"/>
    <p:sldId id="312" r:id="rId17"/>
    <p:sldId id="314" r:id="rId18"/>
    <p:sldId id="313" r:id="rId19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316" r:id="rId32"/>
    <p:sldId id="273" r:id="rId33"/>
    <p:sldId id="275" r:id="rId34"/>
    <p:sldId id="297" r:id="rId37"/>
    <p:sldId id="27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5B7A"/>
    <a:srgbClr val="FEFCF8"/>
    <a:srgbClr val="01A9F5"/>
    <a:srgbClr val="FFC108"/>
    <a:srgbClr val="F443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2"/>
    <p:restoredTop sz="94623"/>
  </p:normalViewPr>
  <p:slideViewPr>
    <p:cSldViewPr snapToGrid="0">
      <p:cViewPr>
        <p:scale>
          <a:sx n="98" d="100"/>
          <a:sy n="98" d="100"/>
        </p:scale>
        <p:origin x="-144" y="3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8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6" Type="http://schemas.openxmlformats.org/officeDocument/2006/relationships/slide" Target="slides/slide2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.xml"/><Relationship Id="rId40" Type="http://schemas.openxmlformats.org/officeDocument/2006/relationships/slide" Target="slides/slide4.xml"/><Relationship Id="rId41" Type="http://schemas.openxmlformats.org/officeDocument/2006/relationships/slide" Target="slides/slide5.xml"/><Relationship Id="rId42" Type="http://schemas.openxmlformats.org/officeDocument/2006/relationships/slide" Target="slides/slide6.xml"/><Relationship Id="rId43" Type="http://schemas.openxmlformats.org/officeDocument/2006/relationships/slide" Target="slides/slide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A3C0D-5D6B-9743-BB84-25FAC7C8F3B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67521-6D5E-5F48-ABD5-1354D96E1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34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7F7D-4C02-3116-D39A-53A43B5D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65BA4-9C5F-E86E-6EBA-89CD7066B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2CD8C-1FF1-4ABD-1CDC-959ED630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B8AD1-90E5-5757-86F7-9F9992180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6EF44-030F-30B0-4181-838901CB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9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8D9D-0FAD-0E02-8AF6-E9585A12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E6D56-7BCF-B6DB-8419-9406473C8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0995B-CC6D-A738-DC56-6D467E3D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7069F-F7DF-AAFA-4719-235C67323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61CEF-F869-746C-84DE-E6041909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5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048B9-98EC-27CD-6D04-30C67C43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B9C5E-1B78-076C-B5CF-BBB96155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535C3-8C33-2853-FD4E-41F45AB5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0C1DB-09EB-4C3B-B9D3-22DAC0AE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4C0DE-476D-00B6-E95A-7AAA3777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0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3A76-E351-ECDD-68BE-B4092815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36269-876A-32D4-D67D-D1AEA5EEA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18951-0B4E-54A2-CCF5-4250C20A9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EBE58-71B4-40F1-CCFE-D2241A40C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2F50B-391E-1809-A09D-7D021FE27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222CF-404D-DB87-540A-4664F10A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8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B915-85AE-3F9A-6A14-2720E05C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737D-555D-AA70-8867-4AAB8223B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1CC3D-DFF2-3470-14F0-B4A00AB35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D61964-730B-C1CF-0978-E16540114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524DE-6075-76D2-0B0D-E43335FB3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E4DD7-FC72-D554-B3B3-E2166243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B52903-F04A-87B0-20DB-06F6290E2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CAB44-D881-6B40-D540-913604AD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3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8A6A-C8E4-854D-1B77-97FE49DE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0A3C8-6528-08CC-6D59-D95BB0B0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11964-268B-C058-9FE8-A88CD7230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C3FA-A9DE-F9DC-B30D-7B256E66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6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223C73-25C1-D927-26F3-1FAF1782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5230CA-8F81-FD96-7F19-2C9C4D4BF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F399A-8942-E5B8-21C0-11304C03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3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15798-5706-DF9E-6963-6985D11D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2244B-F88F-3F4B-EB42-BB6F5B03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B75C7-7691-476B-434A-BB0127017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C9220-547E-9205-16DB-F50564CE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854BB-1B8B-DF8C-EE1A-1786FD6D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9E1C3-FF22-1749-6D23-EBDEA1EB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5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396C-9B11-09CA-CD33-96064AD0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45BBB4-9DF3-DB5F-F76E-F7C7F8703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39975-23E1-EBA8-D3E2-4EFD788F6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14D3A-3DD1-05AD-2D40-6B558B67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8B72A-6C91-73C7-AF48-18E03E7B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8B520-93D1-914E-9776-50A76851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BFB4C-5FEA-3DD6-2001-3562398E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E97D5-15B7-8CE2-FA68-A829E0E2E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D135C-A98B-7861-0568-4ACEBD4B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BF320-AD95-B7A4-11C7-3A49442C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CCF7D-530B-E9A7-7169-F2694F73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12FC43-F4C9-E951-ADE9-C4DF4F709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8766D-3CCD-2FBF-C661-05E0405DA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508D7-D209-AA4E-938E-DDD12736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6762A-CA19-9643-C3D5-B173BC19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A1090-A4CF-8EB8-91EC-AD830703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161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9AEC3-1808-0750-B0B0-3269FE4D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4B59D-44CF-0957-C88F-10FFE32B2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4B360-DC08-2FA1-EBB5-40D620EC7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A38B1-17CF-CF7C-CEA8-6B5C34BE5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3F8D3-5E1E-7A00-F98E-BEDA91496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9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Once upon a time,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there was a living room.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A television set.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A Commodore 64 on the floor.</a:t>
            </a:r>
          </a:p>
        </p:txBody>
      </p:sp>
    </p:spTree>
    <p:extLst>
      <p:ext uri="{BB962C8B-B14F-4D97-AF65-F5344CB8AC3E}">
        <p14:creationId xmlns:p14="http://schemas.microsoft.com/office/powerpoint/2010/main" val="9408358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A young boy.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An older man.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A thick book of code.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Typing.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Line by line,</a:t>
            </a:r>
          </a:p>
          <a:p>
            <a:pPr marL="0" indent="0" algn="ctr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a game took shape.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Hangman.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Character-based gallows.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A little man hanging.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To that boy,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it was magic.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That magic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sparked a dream.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A dream of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making games.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The boy grew up.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Became a software engineer.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But the dream?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Never faded.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Now it's time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to make it real.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5953B40-C23A-68F1-CACF-1AC59FB3F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806" y="400851"/>
            <a:ext cx="5070389" cy="60562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2D4D3E-78C9-3EE7-258C-D78E6A1FDEF8}"/>
              </a:ext>
            </a:extLst>
          </p:cNvPr>
          <p:cNvSpPr txBox="1"/>
          <p:nvPr/>
        </p:nvSpPr>
        <p:spPr>
          <a:xfrm>
            <a:off x="2328530" y="339178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118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A94D-5E97-E30A-F4C7-3194E70B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B2B209-571E-4B7C-04F5-FEB1A74F4539}"/>
              </a:ext>
            </a:extLst>
          </p:cNvPr>
          <p:cNvSpPr txBox="1"/>
          <p:nvPr/>
        </p:nvSpPr>
        <p:spPr>
          <a:xfrm>
            <a:off x="1625148" y="612845"/>
            <a:ext cx="894187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364378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57C0C-1D12-E55A-86BC-AD16F6C1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E8C5F0-7E69-F128-92AA-EA55857030E3}"/>
              </a:ext>
            </a:extLst>
          </p:cNvPr>
          <p:cNvSpPr txBox="1"/>
          <p:nvPr/>
        </p:nvSpPr>
        <p:spPr>
          <a:xfrm>
            <a:off x="1474463" y="2274838"/>
            <a:ext cx="92432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71 vintage systems.</a:t>
            </a:r>
          </a:p>
          <a:p>
            <a:pPr marL="0" indent="0" algn="ctr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8-bit to 16-bit.</a:t>
            </a:r>
          </a:p>
          <a:p>
            <a:pPr marL="0" indent="0" algn="ctr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Computers and consoles.</a:t>
            </a:r>
          </a:p>
          <a:p>
            <a:pPr marL="0" indent="0" algn="ctr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1977-1995.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Original + modern hardware.</a:t>
            </a:r>
          </a:p>
        </p:txBody>
      </p:sp>
    </p:spTree>
    <p:extLst>
      <p:ext uri="{BB962C8B-B14F-4D97-AF65-F5344CB8AC3E}">
        <p14:creationId xmlns:p14="http://schemas.microsoft.com/office/powerpoint/2010/main" val="1730508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C3C7-8AA6-08B9-3AD7-208343C93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saurs in a primeval jungle">
            <a:extLst>
              <a:ext uri="{FF2B5EF4-FFF2-40B4-BE49-F238E27FC236}">
                <a16:creationId xmlns:a16="http://schemas.microsoft.com/office/drawing/2014/main" id="{1FCB73C8-E496-FDBF-8DDE-AB5DDF9D1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2012" y="0"/>
            <a:ext cx="12613194" cy="687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68F77B-8351-67A4-25E5-FDF8980C4C90}"/>
              </a:ext>
            </a:extLst>
          </p:cNvPr>
          <p:cNvSpPr txBox="1"/>
          <p:nvPr/>
        </p:nvSpPr>
        <p:spPr>
          <a:xfrm>
            <a:off x="2319250" y="1720840"/>
            <a:ext cx="755367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Commodore 64: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8,256 lessons,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100+ complete games.</a:t>
            </a:r>
          </a:p>
        </p:txBody>
      </p:sp>
    </p:spTree>
    <p:extLst>
      <p:ext uri="{BB962C8B-B14F-4D97-AF65-F5344CB8AC3E}">
        <p14:creationId xmlns:p14="http://schemas.microsoft.com/office/powerpoint/2010/main" val="1350068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B9555-881A-B64B-A779-C7717F419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EE6A4A-71B4-00B7-ED82-4CAA804CBECB}"/>
              </a:ext>
            </a:extLst>
          </p:cNvPr>
          <p:cNvSpPr txBox="1"/>
          <p:nvPr/>
        </p:nvSpPr>
        <p:spPr>
          <a:xfrm>
            <a:off x="1307767" y="1166843"/>
            <a:ext cx="957666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Home computers: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BASIC → Assembly.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Consoles: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Straight to the metal.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Build games from lesson 1.</a:t>
            </a:r>
          </a:p>
        </p:txBody>
      </p:sp>
    </p:spTree>
    <p:extLst>
      <p:ext uri="{BB962C8B-B14F-4D97-AF65-F5344CB8AC3E}">
        <p14:creationId xmlns:p14="http://schemas.microsoft.com/office/powerpoint/2010/main" val="2951611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A547-6A5A-735F-0156-B0CDED2A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EC2BA8-B0D9-AC40-9846-22259D2DCD06}"/>
              </a:ext>
            </a:extLst>
          </p:cNvPr>
          <p:cNvSpPr txBox="1"/>
          <p:nvPr/>
        </p:nvSpPr>
        <p:spPr>
          <a:xfrm>
            <a:off x="232155" y="1720840"/>
            <a:ext cx="1172789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Home computers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had BASIC.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Let's use that.</a:t>
            </a:r>
          </a:p>
        </p:txBody>
      </p:sp>
    </p:spTree>
    <p:extLst>
      <p:ext uri="{BB962C8B-B14F-4D97-AF65-F5344CB8AC3E}">
        <p14:creationId xmlns:p14="http://schemas.microsoft.com/office/powerpoint/2010/main" val="3017978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62BA-FCD8-FDCC-B800-A40371EA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EE8511-697B-3C67-D71D-463005C38424}"/>
              </a:ext>
            </a:extLst>
          </p:cNvPr>
          <p:cNvSpPr txBox="1"/>
          <p:nvPr/>
        </p:nvSpPr>
        <p:spPr>
          <a:xfrm>
            <a:off x="256206" y="2274838"/>
            <a:ext cx="116798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64 BASIC lessons =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16 complete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Build. Improve.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Hit the ceiling.</a:t>
            </a:r>
          </a:p>
        </p:txBody>
      </p:sp>
    </p:spTree>
    <p:extLst>
      <p:ext uri="{BB962C8B-B14F-4D97-AF65-F5344CB8AC3E}">
        <p14:creationId xmlns:p14="http://schemas.microsoft.com/office/powerpoint/2010/main" val="1660310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6FBB-F002-A18A-F7D3-A5AA38A2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ar is driving through a parking lot with a store in the background (provided by Tenor)">
            <a:extLst>
              <a:ext uri="{FF2B5EF4-FFF2-40B4-BE49-F238E27FC236}">
                <a16:creationId xmlns:a16="http://schemas.microsoft.com/office/drawing/2014/main" id="{FCB95429-15E6-57D4-1750-83E0DD8FF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2" y="0"/>
            <a:ext cx="12197442" cy="6858000"/>
          </a:xfrm>
          <a:prstGeom prst="rect">
            <a:avLst/>
          </a:prstGeom>
          <a:noFill/>
          <a:ln>
            <a:solidFill>
              <a:srgbClr val="FEFCF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8D5870-ECF7-5BEE-657B-EF3AE7276900}"/>
              </a:ext>
            </a:extLst>
          </p:cNvPr>
          <p:cNvSpPr txBox="1"/>
          <p:nvPr/>
        </p:nvSpPr>
        <p:spPr>
          <a:xfrm>
            <a:off x="991188" y="2274838"/>
            <a:ext cx="1020984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Lessons 49-64: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Try professional techniques.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Watch BASIC fail.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6-8 fps. Raster jitter.</a:t>
            </a:r>
          </a:p>
        </p:txBody>
      </p:sp>
    </p:spTree>
    <p:extLst>
      <p:ext uri="{BB962C8B-B14F-4D97-AF65-F5344CB8AC3E}">
        <p14:creationId xmlns:p14="http://schemas.microsoft.com/office/powerpoint/2010/main" val="1645864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69FE3-85E4-A15A-CBE3-742DB74CD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BDA472-8AAC-D830-D5CA-53E062F00A9F}"/>
              </a:ext>
            </a:extLst>
          </p:cNvPr>
          <p:cNvSpPr txBox="1"/>
          <p:nvPr/>
        </p:nvSpPr>
        <p:spPr>
          <a:xfrm>
            <a:off x="2269592" y="2274838"/>
            <a:ext cx="765305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You've built 16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 know what's possible.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You've hit the limits.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Now you WANT assembly.</a:t>
            </a:r>
          </a:p>
        </p:txBody>
      </p:sp>
    </p:spTree>
    <p:extLst>
      <p:ext uri="{BB962C8B-B14F-4D97-AF65-F5344CB8AC3E}">
        <p14:creationId xmlns:p14="http://schemas.microsoft.com/office/powerpoint/2010/main" val="1905370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B0EC-C126-0918-9B09-E32BDE317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7CB117-7882-2B40-0C45-89480C7D987B}"/>
              </a:ext>
            </a:extLst>
          </p:cNvPr>
          <p:cNvSpPr txBox="1"/>
          <p:nvPr/>
        </p:nvSpPr>
        <p:spPr>
          <a:xfrm>
            <a:off x="897301" y="2459504"/>
            <a:ext cx="1039739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600">
                <a:solidFill>
                  <a:srgbClr val="5D5B7A"/>
                </a:solidFill>
                <a:latin typeface="SN Pro Heavy"/>
              </a:rPr>
              <a:t>8,192 assembly lessons.</a:t>
            </a:r>
          </a:p>
          <a:p>
            <a:pPr marL="0" indent="0" algn="ctr">
              <a:buNone/>
            </a:pPr>
            <a:r>
              <a:rPr b="1" sz="3600">
                <a:solidFill>
                  <a:srgbClr val="5D5B7A"/>
                </a:solidFill>
                <a:latin typeface="SN Pro Heavy"/>
              </a:rPr>
              <a:t>100+ games.</a:t>
            </a:r>
          </a:p>
          <a:p>
            <a:pPr marL="0" indent="0" algn="ctr">
              <a:buNone/>
            </a:pPr>
            <a:r>
              <a:rPr b="1" sz="3600">
                <a:solidFill>
                  <a:srgbClr val="01A9F5"/>
                </a:solidFill>
                <a:latin typeface="SN Pro Heavy"/>
              </a:rPr>
              <a:t>Pong → Platformers →</a:t>
            </a:r>
          </a:p>
          <a:p>
            <a:pPr marL="0" indent="0" algn="ctr">
              <a:buNone/>
            </a:pPr>
            <a:r>
              <a:rPr b="1" sz="3600">
                <a:solidFill>
                  <a:srgbClr val="01A9F5"/>
                </a:solidFill>
                <a:latin typeface="SN Pro Heavy"/>
              </a:rPr>
              <a:t>RPGs → Shoot-em-ups.</a:t>
            </a:r>
          </a:p>
        </p:txBody>
      </p:sp>
    </p:spTree>
    <p:extLst>
      <p:ext uri="{BB962C8B-B14F-4D97-AF65-F5344CB8AC3E}">
        <p14:creationId xmlns:p14="http://schemas.microsoft.com/office/powerpoint/2010/main" val="2340071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B802F-F4F6-0854-63AA-18D128B7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6E827C-54BD-12C0-E92E-78EEB3CEC202}"/>
              </a:ext>
            </a:extLst>
          </p:cNvPr>
          <p:cNvSpPr txBox="1"/>
          <p:nvPr/>
        </p:nvSpPr>
        <p:spPr>
          <a:xfrm>
            <a:off x="1556993" y="1720840"/>
            <a:ext cx="907812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200">
                <a:solidFill>
                  <a:srgbClr val="5D5B7A"/>
                </a:solidFill>
                <a:latin typeface="SN Pro Heavy"/>
              </a:rPr>
              <a:t>Beyond 1980s games.</a:t>
            </a:r>
          </a:p>
          <a:p>
            <a:pPr marL="0" indent="0" algn="ctr">
              <a:buNone/>
            </a:pPr>
            <a:r>
              <a:rPr b="1" sz="3200">
                <a:solidFill>
                  <a:srgbClr val="5D5B7A"/>
                </a:solidFill>
                <a:latin typeface="SN Pro Heavy"/>
              </a:rPr>
              <a:t>Demoscene tricks.</a:t>
            </a:r>
          </a:p>
          <a:p>
            <a:pPr marL="0" indent="0" algn="ctr">
              <a:buNone/>
            </a:pPr>
            <a:r>
              <a:rPr b="1" sz="3200">
                <a:solidFill>
                  <a:srgbClr val="01A9F5"/>
                </a:solidFill>
                <a:latin typeface="SN Pro Heavy"/>
              </a:rPr>
              <a:t>Modern techniques.</a:t>
            </a:r>
          </a:p>
          <a:p>
            <a:pPr marL="0" indent="0" algn="ctr">
              <a:buNone/>
            </a:pPr>
            <a:r>
              <a:rPr b="1" sz="3200">
                <a:solidFill>
                  <a:srgbClr val="01A9F5"/>
                </a:solidFill>
                <a:latin typeface="SN Pro Heavy"/>
              </a:rPr>
              <a:t>State-of-the-art retro.</a:t>
            </a:r>
          </a:p>
        </p:txBody>
      </p:sp>
    </p:spTree>
    <p:extLst>
      <p:ext uri="{BB962C8B-B14F-4D97-AF65-F5344CB8AC3E}">
        <p14:creationId xmlns:p14="http://schemas.microsoft.com/office/powerpoint/2010/main" val="567198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2FC8-2B58-2C9D-A774-EC88B00B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7DDBB6-15B2-8C8C-0840-C95041B3C460}"/>
              </a:ext>
            </a:extLst>
          </p:cNvPr>
          <p:cNvSpPr txBox="1"/>
          <p:nvPr/>
        </p:nvSpPr>
        <p:spPr>
          <a:xfrm>
            <a:off x="436438" y="612844"/>
            <a:ext cx="1131912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MEGA65.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ZX Spectrum Next.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Amiga Vampire.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Original + expanded hardware.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Push the limits further.</a:t>
            </a:r>
          </a:p>
        </p:txBody>
      </p:sp>
    </p:spTree>
    <p:extLst>
      <p:ext uri="{BB962C8B-B14F-4D97-AF65-F5344CB8AC3E}">
        <p14:creationId xmlns:p14="http://schemas.microsoft.com/office/powerpoint/2010/main" val="791186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AD3D-E2C8-6FD4-4AFB-3ED71ACF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6D23AC-92CE-7648-2E5E-D895F23902CF}"/>
              </a:ext>
            </a:extLst>
          </p:cNvPr>
          <p:cNvSpPr txBox="1"/>
          <p:nvPr/>
        </p:nvSpPr>
        <p:spPr>
          <a:xfrm>
            <a:off x="1221909" y="612844"/>
            <a:ext cx="974818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NES, Master System, Genesis: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No BASIC.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Jump straight to assembly.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Same goals: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Beyond commercial.</a:t>
            </a:r>
          </a:p>
        </p:txBody>
      </p:sp>
    </p:spTree>
    <p:extLst>
      <p:ext uri="{BB962C8B-B14F-4D97-AF65-F5344CB8AC3E}">
        <p14:creationId xmlns:p14="http://schemas.microsoft.com/office/powerpoint/2010/main" val="3503226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50F75-42E3-9C83-53B4-01271372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E88960-3E05-6A50-152F-478F6350ABAE}"/>
              </a:ext>
            </a:extLst>
          </p:cNvPr>
          <p:cNvSpPr txBox="1"/>
          <p:nvPr/>
        </p:nvSpPr>
        <p:spPr>
          <a:xfrm>
            <a:off x="455674" y="1166843"/>
            <a:ext cx="1128065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No instructor.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No bootcamp fees.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No waiting for cohorts.</a:t>
            </a:r>
          </a:p>
          <a:p>
            <a:pPr marL="0" indent="0" algn="ctr">
              <a:buNone/>
            </a:pPr>
            <a:r>
              <a:rPr b="1" sz="6000">
                <a:solidFill>
                  <a:srgbClr val="01A9F5"/>
                </a:solidFill>
                <a:latin typeface="SN Pro Heavy"/>
              </a:rPr>
              <a:t>Start today.</a:t>
            </a:r>
          </a:p>
          <a:p>
            <a:pPr marL="0" indent="0" algn="ctr">
              <a:buNone/>
            </a:pPr>
            <a:r>
              <a:rPr b="1" sz="6000">
                <a:solidFill>
                  <a:srgbClr val="01A9F5"/>
                </a:solidFill>
                <a:latin typeface="SN Pro Heavy"/>
              </a:rPr>
              <a:t>Learn at your pace.</a:t>
            </a:r>
          </a:p>
        </p:txBody>
      </p:sp>
    </p:spTree>
    <p:extLst>
      <p:ext uri="{BB962C8B-B14F-4D97-AF65-F5344CB8AC3E}">
        <p14:creationId xmlns:p14="http://schemas.microsoft.com/office/powerpoint/2010/main" val="2932099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8D9AC-A93E-6089-F7BD-C049BD154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950218-55D2-3E61-B6BE-7F62B7E9BD2D}"/>
              </a:ext>
            </a:extLst>
          </p:cNvPr>
          <p:cNvSpPr txBox="1"/>
          <p:nvPr/>
        </p:nvSpPr>
        <p:spPr>
          <a:xfrm>
            <a:off x="1980135" y="1536174"/>
            <a:ext cx="823174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Prerequisites: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None.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Absolute beginners welcome.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Kids can start.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Experienced devs can jump ahead.</a:t>
            </a:r>
          </a:p>
        </p:txBody>
      </p:sp>
    </p:spTree>
    <p:extLst>
      <p:ext uri="{BB962C8B-B14F-4D97-AF65-F5344CB8AC3E}">
        <p14:creationId xmlns:p14="http://schemas.microsoft.com/office/powerpoint/2010/main" val="2319946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FBB96-FDD3-6555-9607-A83456E20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FA3DC8-0AE3-8EA0-5FE2-AF4DF2BDE088}"/>
              </a:ext>
            </a:extLst>
          </p:cNvPr>
          <p:cNvSpPr txBox="1"/>
          <p:nvPr/>
        </p:nvSpPr>
        <p:spPr>
          <a:xfrm>
            <a:off x="1613042" y="1720840"/>
            <a:ext cx="896591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Portfolio of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100+ complete games.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Deep hardware mastery.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Assembly expertise.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Real systems programming skills.</a:t>
            </a:r>
          </a:p>
        </p:txBody>
      </p:sp>
    </p:spTree>
    <p:extLst>
      <p:ext uri="{BB962C8B-B14F-4D97-AF65-F5344CB8AC3E}">
        <p14:creationId xmlns:p14="http://schemas.microsoft.com/office/powerpoint/2010/main" val="1346638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F2DA-77EB-13AB-9461-90834E90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E09C9D-6449-9C57-2DE8-33126AD17794}"/>
              </a:ext>
            </a:extLst>
          </p:cNvPr>
          <p:cNvSpPr txBox="1"/>
          <p:nvPr/>
        </p:nvSpPr>
        <p:spPr>
          <a:xfrm>
            <a:off x="1179433" y="1166843"/>
            <a:ext cx="983314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600">
                <a:solidFill>
                  <a:srgbClr val="01A9F5"/>
                </a:solidFill>
                <a:latin typeface="SN Pro Heavy"/>
              </a:rPr>
              <a:t>Game-first learning.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Discover concepts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through necessity,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not lectures.</a:t>
            </a:r>
          </a:p>
        </p:txBody>
      </p:sp>
    </p:spTree>
    <p:extLst>
      <p:ext uri="{BB962C8B-B14F-4D97-AF65-F5344CB8AC3E}">
        <p14:creationId xmlns:p14="http://schemas.microsoft.com/office/powerpoint/2010/main" val="3772503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25B3F-5756-F4E4-E8D0-38200D63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77A910-7FBB-D156-59DD-307FA64CF0F0}"/>
              </a:ext>
            </a:extLst>
          </p:cNvPr>
          <p:cNvSpPr txBox="1"/>
          <p:nvPr/>
        </p:nvSpPr>
        <p:spPr>
          <a:xfrm>
            <a:off x="662461" y="612844"/>
            <a:ext cx="10867077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Every byte counts.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Every clock cycle matters.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Think like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a systems engineer.</a:t>
            </a:r>
          </a:p>
        </p:txBody>
      </p:sp>
    </p:spTree>
    <p:extLst>
      <p:ext uri="{BB962C8B-B14F-4D97-AF65-F5344CB8AC3E}">
        <p14:creationId xmlns:p14="http://schemas.microsoft.com/office/powerpoint/2010/main" val="1201000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A7CAC-08B2-42EA-322E-553E8CA2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FC3615-82FE-B381-CC09-D9F07A5B5959}"/>
              </a:ext>
            </a:extLst>
          </p:cNvPr>
          <p:cNvSpPr txBox="1"/>
          <p:nvPr/>
        </p:nvSpPr>
        <p:spPr>
          <a:xfrm>
            <a:off x="959017" y="1720840"/>
            <a:ext cx="1027396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4855089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5D12-4FF3-9A49-A087-BBFFAA4A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175E1D-3675-EBD2-339E-DDE6FAC87180}"/>
              </a:ext>
            </a:extLst>
          </p:cNvPr>
          <p:cNvSpPr txBox="1"/>
          <p:nvPr/>
        </p:nvSpPr>
        <p:spPr>
          <a:xfrm>
            <a:off x="1625868" y="2274838"/>
            <a:ext cx="89402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100% free.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100% open source.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Always.</a:t>
            </a:r>
          </a:p>
          <a:p>
            <a:pPr marL="0" indent="0" algn="ctr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GitHub: MIT licensed.</a:t>
            </a:r>
          </a:p>
          <a:p>
            <a:pPr marL="0" indent="0" algn="ctr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Content: Creative Commons.</a:t>
            </a:r>
          </a:p>
        </p:txBody>
      </p:sp>
    </p:spTree>
    <p:extLst>
      <p:ext uri="{BB962C8B-B14F-4D97-AF65-F5344CB8AC3E}">
        <p14:creationId xmlns:p14="http://schemas.microsoft.com/office/powerpoint/2010/main" val="32085606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BFE0-2325-7731-9F35-0855AF119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C8B2F1-3CF6-D812-185C-777BB5CB203C}"/>
              </a:ext>
            </a:extLst>
          </p:cNvPr>
          <p:cNvSpPr txBox="1"/>
          <p:nvPr/>
        </p:nvSpPr>
        <p:spPr>
          <a:xfrm>
            <a:off x="1798196" y="2274838"/>
            <a:ext cx="859562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Like it?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GitHub Sponsors. Patreon.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Keep it sustainable.</a:t>
            </a:r>
          </a:p>
        </p:txBody>
      </p:sp>
    </p:spTree>
    <p:extLst>
      <p:ext uri="{BB962C8B-B14F-4D97-AF65-F5344CB8AC3E}">
        <p14:creationId xmlns:p14="http://schemas.microsoft.com/office/powerpoint/2010/main" val="2970841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DDD3-163C-BBCE-4FE5-8BBC745A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38C85F-BCA5-7BBB-3992-ED5BBF29F744}"/>
              </a:ext>
            </a:extLst>
          </p:cNvPr>
          <p:cNvSpPr txBox="1"/>
          <p:nvPr/>
        </p:nvSpPr>
        <p:spPr>
          <a:xfrm>
            <a:off x="2828122" y="1536174"/>
            <a:ext cx="653576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Discord for chat.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GitHub Discussions for Q&amp;A.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Share your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Learn together.</a:t>
            </a:r>
          </a:p>
        </p:txBody>
      </p:sp>
    </p:spTree>
    <p:extLst>
      <p:ext uri="{BB962C8B-B14F-4D97-AF65-F5344CB8AC3E}">
        <p14:creationId xmlns:p14="http://schemas.microsoft.com/office/powerpoint/2010/main" val="20090492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4B1C-A0CA-6CBD-1DE6-8CD99E99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A813D6-ACBB-DC6D-F32E-49C23F4A839C}"/>
              </a:ext>
            </a:extLst>
          </p:cNvPr>
          <p:cNvSpPr txBox="1"/>
          <p:nvPr/>
        </p:nvSpPr>
        <p:spPr>
          <a:xfrm>
            <a:off x="2162074" y="2828836"/>
            <a:ext cx="78678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2200">
                <a:solidFill>
                  <a:srgbClr val="5D5B7A"/>
                </a:solidFill>
                <a:latin typeface="SN Pro Heavy"/>
              </a:rPr>
              <a:t>Lessons 1-16 live.</a:t>
            </a:r>
          </a:p>
          <a:p>
            <a:pPr marL="0" indent="0" algn="ctr">
              <a:buNone/>
            </a:pPr>
            <a:r>
              <a:rPr b="1" sz="2200">
                <a:solidFill>
                  <a:srgbClr val="5D5B7A"/>
                </a:solidFill>
                <a:latin typeface="SN Pro Heavy"/>
              </a:rPr>
              <a:t>More weekly.</a:t>
            </a:r>
          </a:p>
          <a:p>
            <a:pPr marL="0" indent="0" algn="ctr">
              <a:buNone/>
            </a:pPr>
            <a:r>
              <a:rPr b="1" sz="2200">
                <a:solidFill>
                  <a:srgbClr val="01A9F5"/>
                </a:solidFill>
                <a:latin typeface="SN Pro Heavy"/>
              </a:rPr>
              <a:t>code198x.stevehill.xyz</a:t>
            </a:r>
          </a:p>
          <a:p>
            <a:pPr marL="0" indent="0" algn="ctr">
              <a:buNone/>
            </a:pPr>
            <a:r>
              <a:rPr b="1" sz="2200">
                <a:solidFill>
                  <a:srgbClr val="01A9F5"/>
                </a:solidFill>
                <a:latin typeface="SN Pro Heavy"/>
              </a:rPr>
              <a:t>Start lesson 1 today.</a:t>
            </a:r>
          </a:p>
        </p:txBody>
      </p:sp>
    </p:spTree>
    <p:extLst>
      <p:ext uri="{BB962C8B-B14F-4D97-AF65-F5344CB8AC3E}">
        <p14:creationId xmlns:p14="http://schemas.microsoft.com/office/powerpoint/2010/main" val="20081358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C3162-1F9B-E71D-66C4-ADF359B18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E34739-B3E1-6C4D-6F1F-7C03B2D1DB93}"/>
              </a:ext>
            </a:extLst>
          </p:cNvPr>
          <p:cNvSpPr txBox="1"/>
          <p:nvPr/>
        </p:nvSpPr>
        <p:spPr>
          <a:xfrm>
            <a:off x="2515541" y="1536174"/>
            <a:ext cx="716093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000">
                <a:solidFill>
                  <a:srgbClr val="5D5B7A"/>
                </a:solidFill>
                <a:latin typeface="SN Pro Heavy"/>
              </a:rPr>
              <a:t>Test lessons. Report bugs.</a:t>
            </a:r>
          </a:p>
          <a:p>
            <a:pPr marL="0" indent="0" algn="ctr">
              <a:buNone/>
            </a:pPr>
            <a:r>
              <a:rPr b="1" sz="3000">
                <a:solidFill>
                  <a:srgbClr val="01A9F5"/>
                </a:solidFill>
                <a:latin typeface="SN Pro Heavy"/>
              </a:rPr>
              <a:t>Tell me your childhood machine.</a:t>
            </a:r>
          </a:p>
          <a:p>
            <a:pPr marL="0" indent="0" algn="ctr">
              <a:buNone/>
            </a:pPr>
            <a:r>
              <a:rPr b="1" sz="3000">
                <a:solidFill>
                  <a:srgbClr val="01A9F5"/>
                </a:solidFill>
                <a:latin typeface="SN Pro Heavy"/>
              </a:rPr>
              <a:t>Help build the next 70 systems.</a:t>
            </a:r>
          </a:p>
        </p:txBody>
      </p:sp>
    </p:spTree>
    <p:extLst>
      <p:ext uri="{BB962C8B-B14F-4D97-AF65-F5344CB8AC3E}">
        <p14:creationId xmlns:p14="http://schemas.microsoft.com/office/powerpoint/2010/main" val="2043771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6914F-96CA-8706-98C1-6774A5B39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0B1409-1C43-32E5-7E8A-A019E0EE0408}"/>
              </a:ext>
            </a:extLst>
          </p:cNvPr>
          <p:cNvSpPr txBox="1"/>
          <p:nvPr/>
        </p:nvSpPr>
        <p:spPr>
          <a:xfrm>
            <a:off x="2502708" y="612845"/>
            <a:ext cx="718658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lesson 1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to beyond commercial.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1980s limits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to 2025 techniques.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magic to mastery.</a:t>
            </a:r>
          </a:p>
        </p:txBody>
      </p:sp>
    </p:spTree>
    <p:extLst>
      <p:ext uri="{BB962C8B-B14F-4D97-AF65-F5344CB8AC3E}">
        <p14:creationId xmlns:p14="http://schemas.microsoft.com/office/powerpoint/2010/main" val="1589535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568</Words>
  <Application>Microsoft Macintosh PowerPoint</Application>
  <PresentationFormat>Widescreen</PresentationFormat>
  <Paragraphs>151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Aptos Display</vt:lpstr>
      <vt:lpstr>Arial</vt:lpstr>
      <vt:lpstr>SN Pro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Hill</dc:creator>
  <cp:lastModifiedBy>Steve Hill</cp:lastModifiedBy>
  <cp:revision>4</cp:revision>
  <dcterms:created xsi:type="dcterms:W3CDTF">2025-05-13T11:53:54Z</dcterms:created>
  <dcterms:modified xsi:type="dcterms:W3CDTF">2025-05-14T08:57:29Z</dcterms:modified>
</cp:coreProperties>
</file>